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pillars: tools that let agents ACT, and the eval framework</a:t>
            </a:r>
          </a:p>
          <a:p>
            <a:r>
              <a:t>that buys dev speed + reliability. Example: airline support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agenda - the four sections. Everything is in the public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slide - talk through it; room mostly knows MLOps.</a:t>
            </a:r>
          </a:p>
          <a:p>
            <a:r>
              <a:t>'model is the product' -&gt; 'model is a frozen API you rent'.</a:t>
            </a:r>
          </a:p>
          <a:p>
            <a:r>
              <a:t>Rows that matter today: ITERATION UNIT + EVALUATION.</a:t>
            </a:r>
          </a:p>
          <a:p>
            <a:r>
              <a:t>Honesty: LLMOps EXTENDS MLOps, it doesn't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= the brain, but frozen + swappable.</a:t>
            </a:r>
          </a:p>
          <a:p>
            <a:r>
              <a:t>Prompt = job description; Tools = hands; Context = memory.</a:t>
            </a:r>
          </a:p>
          <a:p>
            <a:r>
              <a:t>Loop: prompt+context -&gt; LLM -&gt; tool call -&gt; result back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anatomy parts filled in: Prompt · Tools · LLM · Context.</a:t>
            </a:r>
          </a:p>
          <a:p>
            <a:r>
              <a:t>Prompt = policy sections (info/booking/modify/cancel/compensation).</a:t>
            </a:r>
          </a:p>
          <a:p>
            <a:r>
              <a:t>Tools = the actual 10; LLM = Sonnet vs Haiku; Context = customer world via get_*.</a:t>
            </a:r>
          </a:p>
          <a:p>
            <a:r>
              <a:t>Dataset is tau2-bench (sierra-research) - we reuse the data, our own agent/eval.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real tasks, threaded through the whole talk.</a:t>
            </a:r>
          </a:p>
          <a:p>
            <a:r>
              <a:t>Booking (Sophia) = the agent acting; Cancel (Raj) = the agent refusing + holding.</a:t>
            </a:r>
          </a:p>
          <a:p>
            <a:r>
              <a:t>Chosen because Sonnet passes both and Haiku-v1 fails both - the v2 story lands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set up evaluation BEFORE iterating on the agent.</a:t>
            </a:r>
          </a:p>
          <a:p>
            <a:r>
              <a:t>Three AIs: SimAI (user, pushes back) &lt;-&gt; SupportAI (agent under test) -&gt; EvalAI (judge).</a:t>
            </a:r>
          </a:p>
          <a:p>
            <a:r>
              <a:t>Worked on the Raj cancel: hidden pushback ('a rep approved it') is why a simulator beats a script.</a:t>
            </a:r>
          </a:p>
          <a:p>
            <a:r>
              <a:t>'Right answer' = refuse + hold (no transfer); the judge reads the full multi-turn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baseline: a single ReAct loop - read, decide, call a tool, get result, repeat, reply.</a:t>
            </a:r>
          </a:p>
          <a:p>
            <a:r>
              <a:t>Teach 'tool': reads look things up (get_*, search); the write (book_reservation) does the thing.</a:t>
            </a:r>
          </a:p>
          <a:p>
            <a:r>
              <a:t>Booking ends in a WRITE; cancel checks eligibility, REFUSES, and HOLDS when the user claims a rep approved it.</a:t>
            </a:r>
          </a:p>
          <a:p>
            <a:r>
              <a:t>Tool sequences are the real ones from the transcripts (rez WUNA5K/HAT271, Q69X3R).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prompt, same tools: Sonnet handles both examples, Haiku fails both.</a:t>
            </a:r>
          </a:p>
          <a:p>
            <a:r>
              <a:t>Haiku booking: gives up / wrong args; Haiku cancel: caves under the 'rep approved it' pushback.</a:t>
            </a:r>
          </a:p>
          <a:p>
            <a:r>
              <a:t>Overall 74% vs 34% - the examples are the 50-task gap in miniature. The fix is to take policy off the model -&gt;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was added: the 4 specialist agents (policy in code) + new tools + the confirmation-card UI.</a:t>
            </a:r>
          </a:p>
          <a:p>
            <a:r>
              <a:t>The write left the LLM surface - it runs via execute_pending_action on Accept.</a:t>
            </a:r>
          </a:p>
          <a:p>
            <a:r>
              <a:t>'Agent forgot to confirm before writing' becomes impossible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Sophia's booking in v2: orchestrator gathers -&gt; check_booking_eligibility -&gt; ReadyToAct -&gt;</a:t>
            </a:r>
          </a:p>
          <a:p>
            <a:r>
              <a:t>confirmation card -&gt; Accept -&gt; execute_pending_action -&gt; book_reservation.</a:t>
            </a:r>
          </a:p>
          <a:p>
            <a:r>
              <a:t>The LLM never calls book_reservation; it proposes, the card commits. v2-Haiku passes 4/4.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Raj's cancel in v2: orchestrator -&gt; check_cancellation_eligibility -&gt; Deny -&gt; relays, holds.</a:t>
            </a:r>
          </a:p>
          <a:p>
            <a:r>
              <a:t>Specialist denies deterministically (policy in code) - Haiku can't be argued out of it. 2/2.</a:t>
            </a:r>
          </a:p>
          <a:p>
            <a:r>
              <a:t>Closes the loop: Haiku now passes both examples; the cancel cluster flipped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&gt;= v1 in every cell, gain concentrated on the weak model.</a:t>
            </a:r>
          </a:p>
          <a:p>
            <a:r>
              <a:t>Falsifiable: hand-waving would help both equally; +28 vs +2.</a:t>
            </a:r>
          </a:p>
          <a:p>
            <a:r>
              <a:t>Same harness / 50 tasks / Kimi sim / Haiku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isn't free - ~30% more calls; earns its keep on the cheap model.</a:t>
            </a:r>
          </a:p>
          <a:p>
            <a:r>
              <a:t>Output is a rounding error; cost is ~95% re-sent input (caching ~halves it).</a:t>
            </a:r>
          </a:p>
          <a:p>
            <a:r>
              <a:t>Punchline ties back to the MLOps 'cost'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starting point, not a finished system - v2 is ~62% Haiku / 76% Sonnet.</a:t>
            </a:r>
          </a:p>
          <a:p>
            <a:r>
              <a:t>Many cases still fail (modifications, compensation); targets ~90% Sonnet / ~80% Haiku feel reachable.</a:t>
            </a:r>
          </a:p>
          <a:p>
            <a:r>
              <a:t>Each failure = a specialist gap / tool fix / eval blind spot. Invite issues + PRs on the public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 + the public repo (code &amp;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635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From Vibes to </a:t>
            </a:r>
            <a:r>
              <a:rPr sz="5400" b="1">
                <a:solidFill>
                  <a:srgbClr val="0EAE98"/>
                </a:solidFill>
                <a:latin typeface="Calibri"/>
              </a:rPr>
              <a:t>Verdicts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>
                <a:solidFill>
                  <a:srgbClr val="8A9099"/>
                </a:solidFill>
                <a:latin typeface="Calibri"/>
              </a:rPr>
              <a:t>Evaluating Agents That Take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257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Aarshay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What we’ll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0584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1</a:t>
            </a:r>
            <a:r>
              <a:rPr sz="2200" b="0">
                <a:solidFill>
                  <a:srgbClr val="161B22"/>
                </a:solidFill>
                <a:latin typeface="Calibri"/>
              </a:rPr>
              <a:t>    MLOps → AgentOps - what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2</a:t>
            </a:r>
            <a:r>
              <a:rPr sz="2200" b="0">
                <a:solidFill>
                  <a:srgbClr val="161B22"/>
                </a:solidFill>
                <a:latin typeface="Calibri"/>
              </a:rPr>
              <a:t>    Anatomy of an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3</a:t>
            </a:r>
            <a:r>
              <a:rPr sz="2200" b="0">
                <a:solidFill>
                  <a:srgbClr val="161B22"/>
                </a:solidFill>
                <a:latin typeface="Calibri"/>
              </a:rPr>
              <a:t>    Evaluating an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4</a:t>
            </a:r>
            <a:r>
              <a:rPr sz="2200" b="0">
                <a:solidFill>
                  <a:srgbClr val="161B22"/>
                </a:solidFill>
                <a:latin typeface="Calibri"/>
              </a:rPr>
              <a:t>    Two architectures: v1 →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806440"/>
            <a:ext cx="914400" cy="381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099"/>
                </a:solidFill>
                <a:latin typeface="Calibri"/>
              </a:rPr>
              <a:t>Code &amp; slides:   </a:t>
            </a:r>
            <a:r>
              <a:rPr sz="1500" b="1">
                <a:solidFill>
                  <a:srgbClr val="0EAE98"/>
                </a:solidFill>
                <a:latin typeface="Calibri"/>
              </a:rPr>
              <a:t>github.com/thismlguy/agent-cookbook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MLOPS VS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1B22"/>
                </a:solidFill>
                <a:latin typeface="Calibri"/>
              </a:rPr>
              <a:t>MLOps</a:t>
            </a:r>
            <a:r>
              <a:rPr sz="3000" b="1">
                <a:solidFill>
                  <a:srgbClr val="8A9099"/>
                </a:solidFill>
                <a:latin typeface="Calibri"/>
              </a:rPr>
              <a:t>  ⇒  </a:t>
            </a:r>
            <a:r>
              <a:rPr sz="3000" b="1">
                <a:solidFill>
                  <a:srgbClr val="7C5CFF"/>
                </a:solidFill>
                <a:latin typeface="Calibri"/>
              </a:rPr>
              <a:t>AgentOps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08792" cy="3849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246120"/>
                <a:gridCol w="5513832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8A9099"/>
                          </a:solidFill>
                          <a:latin typeface="Calibri"/>
                        </a:rPr>
                        <a:t>Traditional ML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0EAE98"/>
                          </a:solidFill>
                          <a:latin typeface="Calibri"/>
                        </a:rPr>
                        <a:t>Agentic LLM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What you ship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Trained weights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Prompt + tools + context + policy around a frozen model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Dev loop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Collect → train → test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Prompt → eval → trace → revise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Iteration unit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Features, hyperparams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Prompts, tools, policy (“context engineering”)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F1 / AUC on held-out set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LLM-as-judge over multi-turn trajectories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Failure modes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Overfitting, data drift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Hallucination, tool misuse, cascading errors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Metrics dashboards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Full trace/span trees of reasoning + tool calls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AGENT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Four moving parts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4476" y="2240280"/>
            <a:ext cx="0" cy="82296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4476" y="4251960"/>
            <a:ext cx="0" cy="82296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3657600"/>
            <a:ext cx="1705356" cy="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66075" y="3657600"/>
            <a:ext cx="1705357" cy="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22876" y="3063240"/>
            <a:ext cx="2743200" cy="1188720"/>
          </a:xfrm>
          <a:prstGeom prst="roundRect">
            <a:avLst/>
          </a:prstGeom>
          <a:solidFill>
            <a:srgbClr val="7C5C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2604" y="3063240"/>
            <a:ext cx="2523744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EFFF"/>
                </a:solidFill>
                <a:latin typeface="Calibri"/>
              </a:rPr>
              <a:t>ReAct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5756" y="114300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5484" y="1143000"/>
            <a:ext cx="215798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reasoner - frozen, swappable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08960"/>
            <a:ext cx="215798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Prompt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job description -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1432" y="310896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3108960"/>
            <a:ext cx="215798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Tools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hands - actions it takes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5756" y="507492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5484" y="5074920"/>
            <a:ext cx="215798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Context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memory - knowledge it pulls in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616B"/>
                </a:solidFill>
                <a:latin typeface="Calibri"/>
              </a:rPr>
              <a:t>Answering uses LLM + context.  </a:t>
            </a:r>
            <a:r>
              <a:rPr sz="1600" b="1">
                <a:solidFill>
                  <a:srgbClr val="7C5CFF"/>
                </a:solidFill>
                <a:latin typeface="Calibri"/>
              </a:rPr>
              <a:t>Acting needs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OUR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The airline agent </a:t>
            </a:r>
            <a:r>
              <a:rPr sz="2600" b="1">
                <a:solidFill>
                  <a:srgbClr val="8A9099"/>
                </a:solidFill>
                <a:latin typeface="Calibri"/>
              </a:rPr>
              <a:t>(tau2-bench)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099"/>
                </a:solidFill>
                <a:latin typeface="Calibri"/>
              </a:rPr>
              <a:t>dataset · </a:t>
            </a:r>
            <a:r>
              <a:rPr sz="1200" b="1">
                <a:solidFill>
                  <a:srgbClr val="0EAE98"/>
                </a:solidFill>
                <a:latin typeface="Calibri"/>
              </a:rPr>
              <a:t>github.com/sierra-research/tau2-bench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19659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PROMPT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61B22"/>
                </a:solidFill>
                <a:latin typeface="Calibri"/>
              </a:rPr>
              <a:t>From the airline </a:t>
            </a:r>
            <a:r>
              <a:rPr sz="1250" b="1">
                <a:solidFill>
                  <a:srgbClr val="7C5CFF"/>
                </a:solidFill>
                <a:latin typeface="Calibri"/>
              </a:rPr>
              <a:t>policy</a:t>
            </a:r>
            <a:r>
              <a:rPr sz="1250" b="0">
                <a:solidFill>
                  <a:srgbClr val="161B22"/>
                </a:solidFill>
                <a:latin typeface="Calibri"/>
              </a:rPr>
              <a:t> - sections: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info · booking · modify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cancel · compensation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each section = rules the agent must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463040"/>
            <a:ext cx="5394960" cy="19659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45920"/>
            <a:ext cx="4846320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TOOLS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AE98"/>
                </a:solidFill>
                <a:latin typeface="Calibri"/>
              </a:rPr>
              <a:t>Reads</a:t>
            </a:r>
            <a:r>
              <a:rPr sz="950" b="0">
                <a:solidFill>
                  <a:srgbClr val="5A616B"/>
                </a:solidFill>
                <a:latin typeface="Consolas"/>
              </a:rPr>
              <a:t>   get_user_details · get_reservation_details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16B"/>
                </a:solidFill>
                <a:latin typeface="Consolas"/>
              </a:rPr>
              <a:t>   search_direct_flight · calculate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7C5CFF"/>
                </a:solidFill>
                <a:latin typeface="Calibri"/>
              </a:rPr>
              <a:t>Writes</a:t>
            </a:r>
            <a:r>
              <a:rPr sz="950" b="0">
                <a:solidFill>
                  <a:srgbClr val="5A616B"/>
                </a:solidFill>
                <a:latin typeface="Consolas"/>
              </a:rPr>
              <a:t>   book_reservation · cancel_reservation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16B"/>
                </a:solidFill>
                <a:latin typeface="Consolas"/>
              </a:rPr>
              <a:t>   update_reservation_flights / _baggages / _passengers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Escape</a:t>
            </a:r>
            <a:r>
              <a:rPr sz="950" b="0">
                <a:solidFill>
                  <a:srgbClr val="5A616B"/>
                </a:solidFill>
                <a:latin typeface="Consolas"/>
              </a:rPr>
              <a:t>   transfer_to_human_agents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5394960" cy="20116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LLM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The variable we test: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7C5CFF"/>
                </a:solidFill>
                <a:latin typeface="Calibri"/>
              </a:rPr>
              <a:t>Sonnet</a:t>
            </a:r>
            <a:r>
              <a:rPr sz="1700" b="0">
                <a:solidFill>
                  <a:srgbClr val="8A9099"/>
                </a:solidFill>
                <a:latin typeface="Calibri"/>
              </a:rPr>
              <a:t>   vs   </a:t>
            </a:r>
            <a:r>
              <a:rPr sz="2100" b="1">
                <a:solidFill>
                  <a:srgbClr val="0EAE98"/>
                </a:solidFill>
                <a:latin typeface="Calibri"/>
              </a:rPr>
              <a:t>Haiku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capability  vs  cost &amp;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611880"/>
            <a:ext cx="5394960" cy="20116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794760"/>
            <a:ext cx="484632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CONTEXT  ·  OUR RAG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61B22"/>
                </a:solidFill>
                <a:latin typeface="Calibri"/>
              </a:rPr>
              <a:t>The customer’s world - profile, payment methods, membership, reservations, flight availability.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pulled via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616B"/>
                </a:solidFill>
                <a:latin typeface="Consolas"/>
              </a:rPr>
              <a:t>get_user_details · get_reservation_details · search_direct_flight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61B22"/>
                </a:solidFill>
                <a:latin typeface="Calibri"/>
              </a:rPr>
              <a:t>The policy is the spec. </a:t>
            </a:r>
            <a:r>
              <a:rPr sz="1550" b="1">
                <a:solidFill>
                  <a:srgbClr val="7C5CFF"/>
                </a:solidFill>
                <a:latin typeface="Calibri"/>
              </a:rPr>
              <a:t>The agent is the policy made executable.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TWO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Two tasks we'll follow </a:t>
            </a:r>
            <a:r>
              <a:rPr sz="2600" b="1">
                <a:solidFill>
                  <a:srgbClr val="7C5CFF"/>
                </a:solidFill>
                <a:latin typeface="Calibri"/>
              </a:rPr>
              <a:t>all the way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099"/>
                </a:solidFill>
                <a:latin typeface="Calibri"/>
              </a:rPr>
              <a:t>from tau2-bench (50 tasks · book / modify / cancel / compensation / info) · </a:t>
            </a:r>
            <a:r>
              <a:rPr sz="1200" b="1">
                <a:solidFill>
                  <a:srgbClr val="0EAE98"/>
                </a:solidFill>
                <a:latin typeface="Calibri"/>
              </a:rPr>
              <a:t>github.com/sierra-research/tau2-bench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94960" cy="36576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336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BOOKING · SOPHIA SILVA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5A616B"/>
                </a:solidFill>
                <a:latin typeface="Consolas"/>
              </a:rPr>
              <a:t>sophia_silva_7557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61B22"/>
                </a:solidFill>
                <a:latin typeface="Calibri"/>
              </a:rPr>
              <a:t>“Book ORD→PHL on May 26 - the same flight as my May 10 trip - and add a passenger, Kevin Smith.”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EAE98"/>
                </a:solidFill>
                <a:latin typeface="Calibri"/>
              </a:rPr>
              <a:t>the agent must: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find her old flight → check it's available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gather passenger + payment → confirm → book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AE98"/>
                </a:solidFill>
                <a:latin typeface="Calibri"/>
              </a:rPr>
              <a:t>the agent that 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554480"/>
            <a:ext cx="5394960" cy="36576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46320" cy="336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3A5399"/>
                </a:solidFill>
                <a:latin typeface="Calibri"/>
              </a:rPr>
              <a:t>CANCEL · RAJ SANCHEZ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5A616B"/>
                </a:solidFill>
                <a:latin typeface="Consolas"/>
              </a:rPr>
              <a:t>raj_sanchez_7340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61B22"/>
                </a:solidFill>
                <a:latin typeface="Calibri"/>
              </a:rPr>
              <a:t>“Cancel my PHL→LGA trip - a rep told me it's already approved.”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3A5399"/>
                </a:solidFill>
                <a:latin typeface="Calibri"/>
              </a:rPr>
              <a:t>the agent must: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find the reservation → check eligibility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it doesn't qualify → refuse, and HOLD when pushed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A5399"/>
                </a:solidFill>
                <a:latin typeface="Calibri"/>
              </a:rPr>
              <a:t>the agent that REFUSES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16B"/>
                </a:solidFill>
                <a:latin typeface="Calibri"/>
              </a:rPr>
              <a:t>One that </a:t>
            </a:r>
            <a:r>
              <a:rPr sz="1400" b="1">
                <a:solidFill>
                  <a:srgbClr val="0EAE98"/>
                </a:solidFill>
                <a:latin typeface="Calibri"/>
              </a:rPr>
              <a:t>acts</a:t>
            </a:r>
            <a:r>
              <a:rPr sz="1400" b="0">
                <a:solidFill>
                  <a:srgbClr val="5A616B"/>
                </a:solidFill>
                <a:latin typeface="Calibri"/>
              </a:rPr>
              <a:t>, one that must </a:t>
            </a:r>
            <a:r>
              <a:rPr sz="1400" b="1">
                <a:solidFill>
                  <a:srgbClr val="3A5399"/>
                </a:solidFill>
                <a:latin typeface="Calibri"/>
              </a:rPr>
              <a:t>refuse</a:t>
            </a:r>
            <a:r>
              <a:rPr sz="1400" b="0">
                <a:solidFill>
                  <a:srgbClr val="5A616B"/>
                </a:solidFill>
                <a:latin typeface="Calibri"/>
              </a:rPr>
              <a:t>.  We follow both through eval, v1, and v2.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EVALUATING 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Start by setting up </a:t>
            </a:r>
            <a:r>
              <a:rPr sz="2600" b="1">
                <a:solidFill>
                  <a:srgbClr val="7C5CFF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three AIs in the loop - worked on the </a:t>
            </a:r>
            <a:r>
              <a:rPr sz="1250" b="1">
                <a:solidFill>
                  <a:srgbClr val="B08018"/>
                </a:solidFill>
                <a:latin typeface="Calibri"/>
              </a:rPr>
              <a:t>cancel example (Raj)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572000" cy="18288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02336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SIMAI · THE USER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simulates a real user - dynamic, pushes back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Plays Raj - wants to cancel </a:t>
            </a:r>
            <a:r>
              <a:rPr sz="1050" b="1">
                <a:solidFill>
                  <a:srgbClr val="5A616B"/>
                </a:solidFill>
                <a:latin typeface="Consolas"/>
              </a:rPr>
              <a:t>PHL→LGA</a:t>
            </a:r>
            <a:r>
              <a:rPr sz="1200" b="1">
                <a:solidFill>
                  <a:srgbClr val="161B22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C4744"/>
                </a:solidFill>
                <a:latin typeface="Calibri"/>
              </a:rPr>
              <a:t>Hidden: if refused, claims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C4744"/>
                </a:solidFill>
                <a:latin typeface="Calibri"/>
              </a:rPr>
              <a:t>“a rep already approved it.”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6872" y="1508760"/>
            <a:ext cx="4572000" cy="18288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1192" y="1691640"/>
            <a:ext cx="402336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SUPPORTAI · THE AGENT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the agent under test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Checks eligibility → &gt;24h, economy,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no qualifying insurance → refuses;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7C5CFF"/>
                </a:solidFill>
                <a:latin typeface="Calibri"/>
              </a:rPr>
              <a:t>holds the line under pushback.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377440"/>
            <a:ext cx="1764792" cy="0"/>
          </a:xfrm>
          <a:prstGeom prst="line">
            <a:avLst/>
          </a:prstGeom>
          <a:ln w="31750">
            <a:solidFill>
              <a:srgbClr val="5A616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12080" y="1938528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A616B"/>
                </a:solidFill>
                <a:latin typeface="Calibri"/>
              </a:rPr>
              <a:t>conversation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3337560"/>
            <a:ext cx="1188720" cy="685800"/>
          </a:xfrm>
          <a:prstGeom prst="line">
            <a:avLst/>
          </a:prstGeom>
          <a:ln w="28575">
            <a:solidFill>
              <a:srgbClr val="E0E3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046720" y="3337560"/>
            <a:ext cx="1216152" cy="685800"/>
          </a:xfrm>
          <a:prstGeom prst="line">
            <a:avLst/>
          </a:prstGeom>
          <a:ln w="28575">
            <a:solidFill>
              <a:srgbClr val="E0E3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8304" y="34564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8A9099"/>
                </a:solidFill>
                <a:latin typeface="Calibri"/>
              </a:rPr>
              <a:t>the transcript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023360"/>
            <a:ext cx="5486400" cy="15087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206240"/>
            <a:ext cx="4937760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08018"/>
                </a:solidFill>
                <a:latin typeface="Calibri"/>
              </a:rPr>
              <a:t>EVALAI · THE JUDGE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LLM-as-judge - scores the whole conversation: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✓ did NOT call cancel_reservation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✓ did NOT transfer/approve on the claim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0" y="4773168"/>
            <a:ext cx="502920" cy="0"/>
          </a:xfrm>
          <a:prstGeom prst="line">
            <a:avLst/>
          </a:prstGeom>
          <a:ln w="28575">
            <a:solidFill>
              <a:srgbClr val="E0E3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6840" y="4498848"/>
            <a:ext cx="2514600" cy="5486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498848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PASS / 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16B"/>
                </a:solidFill>
                <a:latin typeface="Calibri"/>
              </a:rPr>
              <a:t>Set up evaluation first - then judge the </a:t>
            </a:r>
            <a:r>
              <a:rPr sz="1400" b="1">
                <a:solidFill>
                  <a:srgbClr val="7C5CFF"/>
                </a:solidFill>
                <a:latin typeface="Calibri"/>
              </a:rPr>
              <a:t>trajectory</a:t>
            </a:r>
            <a:r>
              <a:rPr sz="1400" b="0">
                <a:solidFill>
                  <a:srgbClr val="5A616B"/>
                </a:solidFill>
                <a:latin typeface="Calibri"/>
              </a:rPr>
              <a:t>, not a single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HOW THE AGENT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Read → call a tool → reply </a:t>
            </a:r>
            <a:r>
              <a:rPr sz="2600" b="1">
                <a:solidFill>
                  <a:srgbClr val="8A9099"/>
                </a:solidFill>
                <a:latin typeface="Calibri"/>
              </a:rPr>
              <a:t>(what is a tool?)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10908792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07008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A tool = a function the agent calls</a:t>
            </a:r>
            <a:r>
              <a:rPr sz="1250" b="0">
                <a:solidFill>
                  <a:srgbClr val="5A616B"/>
                </a:solidFill>
                <a:latin typeface="Calibri"/>
              </a:rPr>
              <a:t> - to look something up (read) or do something (write); the agent decides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BOOKING · Sophia  </a:t>
            </a:r>
            <a:r>
              <a:rPr sz="1100" b="0">
                <a:solidFill>
                  <a:srgbClr val="8A9099"/>
                </a:solidFill>
                <a:latin typeface="Calibri"/>
              </a:rPr>
              <a:t>(acts)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8366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5399"/>
                </a:solidFill>
                <a:latin typeface="Calibri"/>
              </a:rPr>
              <a:t>CANCEL · Raj  </a:t>
            </a:r>
            <a:r>
              <a:rPr sz="1100" b="0">
                <a:solidFill>
                  <a:srgbClr val="8A9099"/>
                </a:solidFill>
                <a:latin typeface="Calibri"/>
              </a:rPr>
              <a:t>(refuses)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12848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“Book ORD→PHL, same as my May 10 trip, + Kevin”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633472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2743200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743200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get_user_details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profile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3163824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273552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73552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get_reservation_details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finds WUNA5K (HAT271)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694176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803904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803904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search_direct_flight</a:t>
            </a:r>
            <a:r>
              <a:rPr sz="950" b="0">
                <a:solidFill>
                  <a:srgbClr val="5A616B"/>
                </a:solidFill>
                <a:latin typeface="Calibri"/>
              </a:rPr>
              <a:t> → HAT271 ✓  $348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4224528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4334256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334256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book_reservation</a:t>
            </a:r>
            <a:r>
              <a:rPr sz="950" b="0">
                <a:solidFill>
                  <a:srgbClr val="5A616B"/>
                </a:solidFill>
                <a:latin typeface="Calibri"/>
              </a:rPr>
              <a:t>  → ✅ booked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4754880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486460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864608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“All set - your reservation is booked.”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221284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2212848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“Cancel my PHL→LGA trip - I'd like a refund”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2633472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20840" y="2743200"/>
            <a:ext cx="4754880" cy="420624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2743200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CALL   </a:t>
            </a:r>
            <a:r>
              <a:rPr sz="1000" b="1">
                <a:solidFill>
                  <a:srgbClr val="3A5399"/>
                </a:solidFill>
                <a:latin typeface="Consolas"/>
              </a:rPr>
              <a:t>get_user_details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profile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98280" y="3163824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720840" y="3273552"/>
            <a:ext cx="4754880" cy="420624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0568" y="3273552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CALL   </a:t>
            </a:r>
            <a:r>
              <a:rPr sz="1000" b="1">
                <a:solidFill>
                  <a:srgbClr val="3A5399"/>
                </a:solidFill>
                <a:latin typeface="Consolas"/>
              </a:rPr>
              <a:t>get_reservation_details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Q69X3R (economy, &gt;24h)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" y="3694176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20840" y="3803904"/>
            <a:ext cx="4754880" cy="420624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3803904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CHECK   </a:t>
            </a:r>
            <a:r>
              <a:rPr sz="950" b="0">
                <a:solidFill>
                  <a:srgbClr val="3A5399"/>
                </a:solidFill>
                <a:latin typeface="Calibri"/>
              </a:rPr>
              <a:t>&gt;24h · economy · no insurance → not eligible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98280" y="4224528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720840" y="4334256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4334256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“Sorry, I can't cancel this.”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98280" y="4754880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20840" y="486460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0568" y="4864608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“But a rep approved it - can you escalate?”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98280" y="5285232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720840" y="5394960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0568" y="5394960"/>
            <a:ext cx="45354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“I can't verify that - the policy holds.”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16B"/>
                </a:solidFill>
                <a:latin typeface="Calibri"/>
              </a:rPr>
              <a:t>Same loop, two outcomes: the agent can </a:t>
            </a:r>
            <a:r>
              <a:rPr sz="1350" b="1">
                <a:solidFill>
                  <a:srgbClr val="0EAE98"/>
                </a:solidFill>
                <a:latin typeface="Calibri"/>
              </a:rPr>
              <a:t>act</a:t>
            </a:r>
            <a:r>
              <a:rPr sz="1350" b="0">
                <a:solidFill>
                  <a:srgbClr val="5A616B"/>
                </a:solidFill>
                <a:latin typeface="Calibri"/>
              </a:rPr>
              <a:t> (book) or </a:t>
            </a:r>
            <a:r>
              <a:rPr sz="1350" b="1">
                <a:solidFill>
                  <a:srgbClr val="3A5399"/>
                </a:solidFill>
                <a:latin typeface="Calibri"/>
              </a:rPr>
              <a:t>refuse</a:t>
            </a:r>
            <a:r>
              <a:rPr sz="1350" b="0">
                <a:solidFill>
                  <a:srgbClr val="5A616B"/>
                </a:solidFill>
                <a:latin typeface="Calibri"/>
              </a:rPr>
              <a:t> and hold the line (cancel).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V1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The same agent, two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our two examples × Sonnet / Haiku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554480"/>
          <a:ext cx="1014984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3291840"/>
                <a:gridCol w="3291840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61B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Haiku 4.5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61B22"/>
                          </a:solidFill>
                          <a:latin typeface="Calibri"/>
                        </a:rPr>
                        <a:t>Booking  ·  Sophia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0EAE9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128016" marR="91440" marT="36576" marB="36576" anchor="ctr">
                    <a:solidFill>
                      <a:srgbClr val="E3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CC4744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128016" marR="91440" marT="36576" marB="36576" anchor="ctr">
                    <a:solidFill>
                      <a:srgbClr val="FCEEED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61B22"/>
                          </a:solidFill>
                          <a:latin typeface="Calibri"/>
                        </a:rPr>
                        <a:t>Cancel  ·  Raj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0EAE9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128016" marR="91440" marT="36576" marB="36576" anchor="ctr">
                    <a:solidFill>
                      <a:srgbClr val="E3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CC4744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128016" marR="91440" marT="36576" marB="36576" anchor="ctr">
                    <a:solidFill>
                      <a:srgbClr val="FCEEE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05840" y="4572000"/>
            <a:ext cx="10149840" cy="6400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5720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Across all 50 tasks:   v1-Sonnet </a:t>
            </a:r>
            <a:r>
              <a:rPr sz="1500" b="1">
                <a:solidFill>
                  <a:srgbClr val="0EAE98"/>
                </a:solidFill>
                <a:latin typeface="Calibri"/>
              </a:rPr>
              <a:t>74%</a:t>
            </a:r>
            <a:r>
              <a:rPr sz="1500" b="0">
                <a:solidFill>
                  <a:srgbClr val="161B22"/>
                </a:solidFill>
                <a:latin typeface="Calibri"/>
              </a:rPr>
              <a:t>   ·   v1-Haiku </a:t>
            </a:r>
            <a:r>
              <a:rPr sz="1500" b="1">
                <a:solidFill>
                  <a:srgbClr val="CC4744"/>
                </a:solidFill>
                <a:latin typeface="Calibri"/>
              </a:rPr>
              <a:t>34%</a:t>
            </a:r>
            <a:r>
              <a:rPr sz="1400" b="0">
                <a:solidFill>
                  <a:srgbClr val="5A616B"/>
                </a:solidFill>
                <a:latin typeface="Calibri"/>
              </a:rPr>
              <a:t>   - the two examples are the gap in miniature.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61B22"/>
                </a:solidFill>
                <a:latin typeface="Calibri"/>
              </a:rPr>
              <a:t>Why does Haiku fail? The policy lives in the prompt - too much to hold under pressure.  </a:t>
            </a:r>
            <a:r>
              <a:rPr sz="1450" b="1">
                <a:solidFill>
                  <a:srgbClr val="7C5CFF"/>
                </a:solidFill>
                <a:latin typeface="Calibri"/>
              </a:rPr>
              <a:t>→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V2 · THE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Specialists + a confirmation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08792" cy="73152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601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ORCHESTRATOR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the only LLM · gathers info · routes  -  </a:t>
            </a:r>
            <a:r>
              <a:rPr sz="1250" b="1">
                <a:solidFill>
                  <a:srgbClr val="161B22"/>
                </a:solidFill>
                <a:latin typeface="Calibri"/>
              </a:rPr>
              <a:t>policy lives in code, not in the prompt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057400"/>
            <a:ext cx="0" cy="274320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2057400"/>
            <a:ext cx="0" cy="274320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591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A616B"/>
                </a:solidFill>
                <a:latin typeface="Calibri"/>
              </a:rPr>
              <a:t>4 SPECIALIST AGENTS · policy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7004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2359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booking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67004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670048"/>
            <a:ext cx="2359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modification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0156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01568"/>
            <a:ext cx="2359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cancellation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340156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3401568"/>
            <a:ext cx="2359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compensation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5A616B"/>
                </a:solidFill>
                <a:latin typeface="Calibri"/>
              </a:rPr>
              <a:t>+ new tools  </a:t>
            </a:r>
            <a:r>
              <a:rPr sz="900" b="0">
                <a:solidFill>
                  <a:srgbClr val="5A616B"/>
                </a:solidFill>
                <a:latin typeface="Consolas"/>
              </a:rPr>
              <a:t>search_onestop_flight · get_baggage_allowance · check_*_eligibility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591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A616B"/>
                </a:solidFill>
                <a:latin typeface="Calibri"/>
              </a:rPr>
              <a:t>CONFIRMATION UI · the new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70048"/>
            <a:ext cx="507492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7889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Confirm booking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ORD → PHL · May 26 · 2 pax · $348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520440"/>
            <a:ext cx="1371600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5204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520440"/>
            <a:ext cx="137160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5204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A616B"/>
                </a:solidFill>
                <a:latin typeface="Calibri"/>
              </a:rPr>
              <a:t>Cancel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605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on Accept → </a:t>
            </a:r>
            <a:r>
              <a:rPr sz="1050" b="1">
                <a:solidFill>
                  <a:srgbClr val="161B22"/>
                </a:solidFill>
                <a:latin typeface="Consolas"/>
              </a:rPr>
              <a:t>execute_pending_action</a:t>
            </a:r>
            <a:r>
              <a:rPr sz="1100" b="0">
                <a:solidFill>
                  <a:srgbClr val="5A616B"/>
                </a:solidFill>
                <a:latin typeface="Calibri"/>
              </a:rPr>
              <a:t> → the write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29200"/>
            <a:ext cx="10908792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10360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The write moved </a:t>
            </a:r>
            <a:r>
              <a:rPr sz="1500" b="1">
                <a:solidFill>
                  <a:srgbClr val="7C5CFF"/>
                </a:solidFill>
                <a:latin typeface="Calibri"/>
              </a:rPr>
              <a:t>off the LLM</a:t>
            </a:r>
            <a:r>
              <a:rPr sz="1500" b="0">
                <a:solidFill>
                  <a:srgbClr val="161B22"/>
                </a:solidFill>
                <a:latin typeface="Calibri"/>
              </a:rPr>
              <a:t> - specialists hold the policy, the user clicks Accept. </a:t>
            </a:r>
            <a:r>
              <a:rPr sz="1400" b="0">
                <a:solidFill>
                  <a:srgbClr val="5A616B"/>
                </a:solidFill>
                <a:latin typeface="Calibri"/>
              </a:rPr>
              <a:t>“forgot to confirm” is now impossible by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BOOKING IN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Booking (Sophia), </a:t>
            </a:r>
            <a:r>
              <a:rPr sz="2600" b="1">
                <a:solidFill>
                  <a:srgbClr val="7C5CFF"/>
                </a:solidFill>
                <a:latin typeface="Calibri"/>
              </a:rPr>
              <a:t>now in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“Book ORD→PHL, same as my May 10 trip, + Kevin”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148840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295144"/>
            <a:ext cx="5212080" cy="502920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95144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GATHER </a:t>
            </a:r>
            <a:r>
              <a:rPr sz="850" b="0">
                <a:solidFill>
                  <a:srgbClr val="5A616B"/>
                </a:solidFill>
                <a:latin typeface="Consolas"/>
              </a:rPr>
              <a:t>get_user_details · get_reservation_details · search_direct_flight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798064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944368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CALL   </a:t>
            </a:r>
            <a:r>
              <a:rPr sz="1000" b="1">
                <a:solidFill>
                  <a:srgbClr val="7C5CFF"/>
                </a:solidFill>
                <a:latin typeface="Consolas"/>
              </a:rPr>
              <a:t>check_booking_eligibility</a:t>
            </a:r>
            <a:r>
              <a:rPr sz="950" b="0">
                <a:solidFill>
                  <a:srgbClr val="5A616B"/>
                </a:solidFill>
                <a:latin typeface="Calibri"/>
              </a:rPr>
              <a:t> → ReadyToAct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447288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593592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93592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CARD   </a:t>
            </a:r>
            <a:r>
              <a:rPr sz="1000" b="1">
                <a:solidFill>
                  <a:srgbClr val="7C5CFF"/>
                </a:solidFill>
                <a:latin typeface="Consolas"/>
              </a:rPr>
              <a:t>&lt;confirmation_card&gt;</a:t>
            </a:r>
            <a:r>
              <a:rPr sz="950" b="0">
                <a:solidFill>
                  <a:srgbClr val="161B22"/>
                </a:solidFill>
                <a:latin typeface="Calibri"/>
              </a:rPr>
              <a:t> → user clicks Accept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4096512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242816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EXEC   </a:t>
            </a:r>
            <a:r>
              <a:rPr sz="1000" b="1">
                <a:solidFill>
                  <a:srgbClr val="7C5CFF"/>
                </a:solidFill>
                <a:latin typeface="Consolas"/>
              </a:rPr>
              <a:t>execute_pending_action</a:t>
            </a:r>
            <a:r>
              <a:rPr sz="950" b="0">
                <a:solidFill>
                  <a:srgbClr val="5A616B"/>
                </a:solidFill>
                <a:latin typeface="Calibri"/>
              </a:rPr>
              <a:t>  → book 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745736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89204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892040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“Booked - reservation Q0RSL5.”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5212080" cy="22860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663440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V1 → V2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5A616B"/>
                </a:solidFill>
                <a:latin typeface="Calibri"/>
              </a:rPr>
              <a:t>v1:</a:t>
            </a:r>
            <a:r>
              <a:rPr sz="1150" b="0">
                <a:solidFill>
                  <a:srgbClr val="161B22"/>
                </a:solidFill>
                <a:latin typeface="Calibri"/>
              </a:rPr>
              <a:t> the LLM called </a:t>
            </a:r>
            <a:r>
              <a:rPr sz="1050" b="1">
                <a:solidFill>
                  <a:srgbClr val="5A616B"/>
                </a:solidFill>
                <a:latin typeface="Consolas"/>
              </a:rPr>
              <a:t>book_reservation</a:t>
            </a:r>
            <a:r>
              <a:rPr sz="1150" b="0">
                <a:solidFill>
                  <a:srgbClr val="161B22"/>
                </a:solidFill>
                <a:latin typeface="Calibri"/>
              </a:rPr>
              <a:t> directly.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7C5CFF"/>
                </a:solidFill>
                <a:latin typeface="Calibri"/>
              </a:rPr>
              <a:t>v2:</a:t>
            </a:r>
            <a:r>
              <a:rPr sz="1150" b="0">
                <a:solidFill>
                  <a:srgbClr val="161B22"/>
                </a:solidFill>
                <a:latin typeface="Calibri"/>
              </a:rPr>
              <a:t> the LLM only </a:t>
            </a:r>
            <a:r>
              <a:rPr sz="1150" b="1">
                <a:solidFill>
                  <a:srgbClr val="7C5CFF"/>
                </a:solidFill>
                <a:latin typeface="Calibri"/>
              </a:rPr>
              <a:t>proposes</a:t>
            </a:r>
            <a:r>
              <a:rPr sz="1150" b="0">
                <a:solidFill>
                  <a:srgbClr val="161B22"/>
                </a:solidFill>
                <a:latin typeface="Calibri"/>
              </a:rPr>
              <a:t> - the card </a:t>
            </a:r>
            <a:r>
              <a:rPr sz="1150" b="1">
                <a:solidFill>
                  <a:srgbClr val="7C5CFF"/>
                </a:solidFill>
                <a:latin typeface="Calibri"/>
              </a:rPr>
              <a:t>commits</a:t>
            </a:r>
            <a:r>
              <a:rPr sz="1150" b="0">
                <a:solidFill>
                  <a:srgbClr val="161B22"/>
                </a:solidFill>
                <a:latin typeface="Calibri"/>
              </a:rPr>
              <a:t> the write.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the booking specialist validated passengers,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payment, and the flight before the card.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0520"/>
            <a:ext cx="5212080" cy="960120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343400"/>
            <a:ext cx="46634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RESULT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161B22"/>
                </a:solidFill>
                <a:latin typeface="Calibri"/>
              </a:rPr>
              <a:t>v2-Haiku    </a:t>
            </a:r>
            <a:r>
              <a:rPr sz="1800" b="1">
                <a:solidFill>
                  <a:srgbClr val="0EAE98"/>
                </a:solidFill>
                <a:latin typeface="Calibri"/>
              </a:rPr>
              <a:t>✓  4 /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CANCEL IN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Cancel (Raj), </a:t>
            </a:r>
            <a:r>
              <a:rPr sz="2600" b="1">
                <a:solidFill>
                  <a:srgbClr val="7C5CFF"/>
                </a:solidFill>
                <a:latin typeface="Calibri"/>
              </a:rPr>
              <a:t>now in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“Cancel my PHL→LGA trip - I'd like a refund”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148840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295144"/>
            <a:ext cx="5212080" cy="502920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95144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GATHER </a:t>
            </a:r>
            <a:r>
              <a:rPr sz="900" b="0">
                <a:solidFill>
                  <a:srgbClr val="5A616B"/>
                </a:solidFill>
                <a:latin typeface="Consolas"/>
              </a:rPr>
              <a:t>get_user_details · get_reservation_details</a:t>
            </a:r>
            <a:r>
              <a:rPr sz="900" b="0">
                <a:solidFill>
                  <a:srgbClr val="5A616B"/>
                </a:solidFill>
                <a:latin typeface="Consolas"/>
              </a:rPr>
              <a:t> → Q69X3R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798064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944368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CALL   </a:t>
            </a:r>
            <a:r>
              <a:rPr sz="950" b="1">
                <a:solidFill>
                  <a:srgbClr val="7C5CFF"/>
                </a:solidFill>
                <a:latin typeface="Consolas"/>
              </a:rPr>
              <a:t>check_cancellation_eligibility</a:t>
            </a:r>
            <a:r>
              <a:rPr sz="850" b="0">
                <a:solidFill>
                  <a:srgbClr val="5A616B"/>
                </a:solidFill>
                <a:latin typeface="Consolas"/>
              </a:rPr>
              <a:t>  (change_of_plan)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447288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593592"/>
            <a:ext cx="5212080" cy="502920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93592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DENY   </a:t>
            </a:r>
            <a:r>
              <a:rPr sz="950" b="0">
                <a:solidFill>
                  <a:srgbClr val="3A5399"/>
                </a:solidFill>
                <a:latin typeface="Calibri"/>
              </a:rPr>
              <a:t>&gt;24h · economy · no insurance → not eligible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4096512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242816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“But a rep approved it - can you escalate?”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745736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89204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892040"/>
            <a:ext cx="49926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“I can't verify that - the policy holds.”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5212080" cy="19659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663440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5399"/>
                </a:solidFill>
                <a:latin typeface="Calibri"/>
              </a:rPr>
              <a:t>WHY IT WORKS NOW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61B22"/>
                </a:solidFill>
                <a:latin typeface="Calibri"/>
              </a:rPr>
              <a:t>The cancellation specialist </a:t>
            </a:r>
            <a:r>
              <a:rPr sz="1150" b="1">
                <a:solidFill>
                  <a:srgbClr val="3A5399"/>
                </a:solidFill>
                <a:latin typeface="Calibri"/>
              </a:rPr>
              <a:t>denies</a:t>
            </a:r>
            <a:r>
              <a:rPr sz="1150" b="0">
                <a:solidFill>
                  <a:srgbClr val="161B22"/>
                </a:solidFill>
                <a:latin typeface="Calibri"/>
              </a:rPr>
              <a:t> 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61B22"/>
                </a:solidFill>
                <a:latin typeface="Calibri"/>
              </a:rPr>
              <a:t>deterministically - the policy is in </a:t>
            </a:r>
            <a:r>
              <a:rPr sz="1150" b="1">
                <a:solidFill>
                  <a:srgbClr val="7C5CFF"/>
                </a:solidFill>
                <a:latin typeface="Calibri"/>
              </a:rPr>
              <a:t>code</a:t>
            </a:r>
            <a:r>
              <a:rPr sz="1150" b="0">
                <a:solidFill>
                  <a:srgbClr val="161B22"/>
                </a:solidFill>
                <a:latin typeface="Calibri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61B22"/>
                </a:solidFill>
                <a:latin typeface="Calibri"/>
              </a:rPr>
              <a:t>so Haiku can't be talked out of it -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even under the “a rep approved it” pressure.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840480"/>
            <a:ext cx="5212080" cy="960120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23360"/>
            <a:ext cx="46634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RESULT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161B22"/>
                </a:solidFill>
                <a:latin typeface="Calibri"/>
              </a:rPr>
              <a:t>v2-Haiku    </a:t>
            </a:r>
            <a:r>
              <a:rPr sz="1800" b="1">
                <a:solidFill>
                  <a:srgbClr val="0EAE98"/>
                </a:solidFill>
                <a:latin typeface="Calibri"/>
              </a:rPr>
              <a:t>✓  2 /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66360"/>
            <a:ext cx="10908792" cy="868680"/>
          </a:xfrm>
          <a:prstGeom prst="roundRect">
            <a:avLst/>
          </a:prstGeom>
          <a:solidFill>
            <a:srgbClr val="F2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10360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Haiku now passes </a:t>
            </a:r>
            <a:r>
              <a:rPr sz="1500" b="1">
                <a:solidFill>
                  <a:srgbClr val="0EAE98"/>
                </a:solidFill>
                <a:latin typeface="Calibri"/>
              </a:rPr>
              <a:t>BOTH</a:t>
            </a:r>
            <a:r>
              <a:rPr sz="1500" b="0">
                <a:solidFill>
                  <a:srgbClr val="161B22"/>
                </a:solidFill>
                <a:latin typeface="Calibri"/>
              </a:rPr>
              <a:t> examples - and the 7-task cancel cluster </a:t>
            </a:r>
            <a:r>
              <a:rPr sz="1250" b="1">
                <a:solidFill>
                  <a:srgbClr val="5A616B"/>
                </a:solidFill>
                <a:latin typeface="Consolas"/>
              </a:rPr>
              <a:t>39/41/43/45/47/48/49</a:t>
            </a:r>
            <a:r>
              <a:rPr sz="1500" b="0">
                <a:solidFill>
                  <a:srgbClr val="161B22"/>
                </a:solidFill>
                <a:latin typeface="Calibri"/>
              </a:rPr>
              <a:t> flipped too.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Performance: the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50976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383280"/>
                <a:gridCol w="3383280"/>
              </a:tblGrid>
              <a:tr h="8229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61B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Haiku 4.5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b="0">
                          <a:solidFill>
                            <a:srgbClr val="5A616B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b="0">
                          <a:solidFill>
                            <a:srgbClr val="5A616B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marL="128016" marR="91440" marT="36576" marB="36576" anchor="ctr">
                    <a:solidFill>
                      <a:srgbClr val="F4F5F7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b="1">
                          <a:solidFill>
                            <a:srgbClr val="161B22"/>
                          </a:solidFill>
                          <a:latin typeface="Calibri"/>
                        </a:rPr>
                        <a:t>76%  (+2)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62%  (+28)</a:t>
                      </a:r>
                    </a:p>
                  </a:txBody>
                  <a:tcPr marL="128016" marR="91440" marT="36576" marB="36576" anchor="ctr">
                    <a:solidFill>
                      <a:srgbClr val="7C5C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2"/>
                </a:solidFill>
                <a:latin typeface="Calibri"/>
              </a:rPr>
              <a:t>The gain concentrates on the </a:t>
            </a:r>
            <a:r>
              <a:rPr sz="1600" b="1">
                <a:solidFill>
                  <a:srgbClr val="7C5CFF"/>
                </a:solidFill>
                <a:latin typeface="Calibri"/>
              </a:rPr>
              <a:t>weak</a:t>
            </a:r>
            <a:r>
              <a:rPr sz="1600" b="0">
                <a:solidFill>
                  <a:srgbClr val="161B22"/>
                </a:solidFill>
                <a:latin typeface="Calibri"/>
              </a:rPr>
              <a:t> model: +28 pts on Haiku, +2 on Sonnet.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16B"/>
                </a:solidFill>
                <a:latin typeface="Calibri"/>
              </a:rPr>
              <a:t>Falsifiable - if it were hand-waving, it would help both equally.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THE PRODUCTION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Cost &amp; latency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6583680" cy="2203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37744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cost (cached)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Latency p99</a:t>
                      </a:r>
                    </a:p>
                  </a:txBody>
                  <a:tcPr marL="128016" marR="91440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v1 · Haiku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$0.71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17 s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61B22"/>
                          </a:solidFill>
                          <a:latin typeface="Calibri"/>
                        </a:rPr>
                        <a:t>v2 · Haiku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61B22"/>
                          </a:solidFill>
                          <a:latin typeface="Calibri"/>
                        </a:rPr>
                        <a:t>$1.28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61B22"/>
                          </a:solidFill>
                          <a:latin typeface="Calibri"/>
                        </a:rPr>
                        <a:t>23 s</a:t>
                      </a:r>
                    </a:p>
                  </a:txBody>
                  <a:tcPr marL="128016" marR="91440" marT="36576" marB="36576" anchor="ctr">
                    <a:solidFill>
                      <a:srgbClr val="F2E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v2 · Sonnet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$5.32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84 s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463040"/>
            <a:ext cx="4050791" cy="2203704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399" y="1645920"/>
            <a:ext cx="3502151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WHAT IT BUYS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1B22"/>
                </a:solidFill>
                <a:latin typeface="Calibri"/>
              </a:rPr>
              <a:t>+$0.57 / run  →  +28 task pts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≈ 2¢ per point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61B22"/>
                </a:solidFill>
                <a:latin typeface="Calibri"/>
              </a:rPr>
              <a:t>v2-Haiku ≈ 80% of v2-Sonnet quality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at ~¼ the cost, 3-4× tighter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10908792" cy="731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601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v2 isn’t free - ~30% more agent calls. It earns its keep on the </a:t>
            </a:r>
            <a:r>
              <a:rPr sz="1500" b="1">
                <a:solidFill>
                  <a:srgbClr val="7C5CFF"/>
                </a:solidFill>
                <a:latin typeface="Calibri"/>
              </a:rPr>
              <a:t>cheap</a:t>
            </a:r>
            <a:r>
              <a:rPr sz="1500" b="0">
                <a:solidFill>
                  <a:srgbClr val="161B22"/>
                </a:solidFill>
                <a:latin typeface="Calibri"/>
              </a:rPr>
              <a:t>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7C5CFF"/>
                </a:solidFill>
                <a:latin typeface="Calibri"/>
              </a:rPr>
              <a:t>“v2 is how you make a cheap model behave like an expensive one.”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This is just the beginning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37744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A616B"/>
                </a:solidFill>
                <a:latin typeface="Calibri"/>
              </a:rPr>
              <a:t>WHERE WE 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61B22"/>
                </a:solidFill>
                <a:latin typeface="Calibri"/>
              </a:rPr>
              <a:t>v2 tops out at </a:t>
            </a:r>
            <a:r>
              <a:rPr sz="1500" b="1">
                <a:solidFill>
                  <a:srgbClr val="161B22"/>
                </a:solidFill>
                <a:latin typeface="Calibri"/>
              </a:rPr>
              <a:t>62% </a:t>
            </a:r>
            <a:r>
              <a:rPr sz="1350" b="0">
                <a:solidFill>
                  <a:srgbClr val="161B22"/>
                </a:solidFill>
                <a:latin typeface="Calibri"/>
              </a:rPr>
              <a:t>Haiku  ·  </a:t>
            </a:r>
            <a:r>
              <a:rPr sz="1500" b="1">
                <a:solidFill>
                  <a:srgbClr val="161B22"/>
                </a:solidFill>
                <a:latin typeface="Calibri"/>
              </a:rPr>
              <a:t>76% </a:t>
            </a:r>
            <a:r>
              <a:rPr sz="1350" b="0">
                <a:solidFill>
                  <a:srgbClr val="161B22"/>
                </a:solidFill>
                <a:latin typeface="Calibri"/>
              </a:rPr>
              <a:t>Sonnet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plenty still fails - especially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61B22"/>
                </a:solidFill>
                <a:latin typeface="Calibri"/>
              </a:rPr>
              <a:t>modifications</a:t>
            </a:r>
            <a:r>
              <a:rPr sz="1250" b="0">
                <a:solidFill>
                  <a:srgbClr val="5A616B"/>
                </a:solidFill>
                <a:latin typeface="Calibri"/>
              </a:rPr>
              <a:t> and </a:t>
            </a:r>
            <a:r>
              <a:rPr sz="1250" b="1">
                <a:solidFill>
                  <a:srgbClr val="161B22"/>
                </a:solidFill>
                <a:latin typeface="Calibri"/>
              </a:rPr>
              <a:t>compensation</a:t>
            </a:r>
            <a:r>
              <a:rPr sz="1250" b="0">
                <a:solidFill>
                  <a:srgbClr val="5A616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554480"/>
            <a:ext cx="5394960" cy="237744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737360"/>
            <a:ext cx="4846320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WHERE IT CAN GO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61B22"/>
                </a:solidFill>
                <a:latin typeface="Calibri"/>
              </a:rPr>
              <a:t>with more iteration: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0EAE98"/>
                </a:solidFill>
                <a:latin typeface="Calibri"/>
              </a:rPr>
              <a:t>Sonnet 90%+</a:t>
            </a:r>
            <a:r>
              <a:rPr sz="1300" b="0">
                <a:solidFill>
                  <a:srgbClr val="8A9099"/>
                </a:solidFill>
                <a:latin typeface="Calibri"/>
              </a:rPr>
              <a:t>    ·    </a:t>
            </a:r>
            <a:r>
              <a:rPr sz="1600" b="1">
                <a:solidFill>
                  <a:srgbClr val="0EAE98"/>
                </a:solidFill>
                <a:latin typeface="Calibri"/>
              </a:rPr>
              <a:t>Haiku 80%+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every failing case = a specialist gap,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a tool fix, or an eval blind spot.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51960"/>
            <a:ext cx="10908792" cy="777240"/>
          </a:xfrm>
          <a:prstGeom prst="roundRect">
            <a:avLst/>
          </a:prstGeom>
          <a:solidFill>
            <a:srgbClr val="F2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601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B22"/>
                </a:solidFill>
                <a:latin typeface="Calibri"/>
              </a:rPr>
              <a:t>Want to take it further?  </a:t>
            </a:r>
            <a:r>
              <a:rPr sz="1500" b="1">
                <a:solidFill>
                  <a:srgbClr val="7C5CFF"/>
                </a:solidFill>
                <a:latin typeface="Calibri"/>
              </a:rPr>
              <a:t>Open an issue or a 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099"/>
                </a:solidFill>
                <a:latin typeface="Calibri"/>
              </a:rPr>
              <a:t>Contribute:   </a:t>
            </a:r>
            <a:r>
              <a:rPr sz="1800" b="1">
                <a:solidFill>
                  <a:srgbClr val="0EAE98"/>
                </a:solidFill>
                <a:latin typeface="Calibri"/>
              </a:rPr>
              <a:t>github.com/thismlguy/agent-cookbook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280160" cy="635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AE98"/>
                </a:solidFill>
                <a:latin typeface="Calibri"/>
              </a:rPr>
              <a:t>github.com/thismlguy/agent-cookbook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